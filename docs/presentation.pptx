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3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2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3280" y="441360"/>
            <a:ext cx="9071280" cy="51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3280" y="2741760"/>
            <a:ext cx="9071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280" y="441360"/>
            <a:ext cx="9071280" cy="51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3280" y="2741760"/>
            <a:ext cx="9071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1E65D1-D0DE-4938-82F7-4BABE34BFE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643A0E-AD56-42D4-A2EE-CA747AC301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F8670A-A968-45A8-8C9A-04D50FA29A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8F8FCA2-5484-4DAD-8C85-65B6C8068B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729B18-63C0-465E-A66C-6FD18558CA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B6048DC-12A4-42C8-8A02-E68E1840CE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CF46653-1E24-4DD2-ACA9-8936B3D30A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B486B21-9415-42B2-A0DB-867E7F7A2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A3B9AEE-8CDA-405C-A5DD-FA3434BFD3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3280" y="585360"/>
            <a:ext cx="9071280" cy="22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11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" name="PlaceHolder 1"/>
          <p:cNvSpPr>
            <a:spLocks noGrp="1"/>
          </p:cNvSpPr>
          <p:nvPr>
            <p:ph type="ftr" idx="1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2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B3FBC91-7ACB-4320-8EA2-14CFE4727B28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3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19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ftr" idx="4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5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5E39D0A-8FC1-4249-A5AE-4D070A696F66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6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27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ftr" idx="7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8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45DE94AE-E64C-4F6F-94D2-52602E0BDE8C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9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35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ftr" idx="10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1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7BA6C6C4-4725-48A9-954A-0CA1C82166C5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2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43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ftr" idx="13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14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4AC1843C-19FE-4D69-9A77-441107EA0E5E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15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51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ftr" idx="16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7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460104A6-781B-4364-ACA7-499E789065CA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18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59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ftr" idx="19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20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3E72AF2-45C8-4807-BD0A-28806BE91D90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1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67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PlaceHolder 1"/>
          <p:cNvSpPr>
            <a:spLocks noGrp="1"/>
          </p:cNvSpPr>
          <p:nvPr>
            <p:ph type="ftr" idx="22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23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116B1BEB-A88B-4A2F-BAC2-136872E1FF5D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24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75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ftr" idx="25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26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89F5F23B-1A98-4365-98E9-E92B1096C5BD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27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83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ftr" idx="28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9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5EE58E8-6478-4AB8-8F7B-10232739B389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30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object 11"/>
          <p:cNvGrpSpPr/>
          <p:nvPr/>
        </p:nvGrpSpPr>
        <p:grpSpPr>
          <a:xfrm>
            <a:off x="9675360" y="5303160"/>
            <a:ext cx="211680" cy="209520"/>
            <a:chOff x="9675360" y="5303160"/>
            <a:chExt cx="211680" cy="209520"/>
          </a:xfrm>
        </p:grpSpPr>
        <p:sp>
          <p:nvSpPr>
            <p:cNvPr id="91" name="object 12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object 13"/>
            <p:cNvSpPr/>
            <p:nvPr/>
          </p:nvSpPr>
          <p:spPr>
            <a:xfrm>
              <a:off x="9675360" y="5303160"/>
              <a:ext cx="211680" cy="2095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209520"/>
                <a:gd name="textAreaBottom" fmla="*/ 209880 h 209520"/>
              </a:gdLst>
              <a:ahLst/>
              <a:cxnLst/>
              <a:rect l="textAreaLeft" t="textAreaTop" r="textAreaRight" b="textAreaBottom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noFill/>
            <a:ln w="25920">
              <a:solidFill>
                <a:srgbClr val="9CC63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ru-RU" sz="1800" b="1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ftr" idx="31"/>
          </p:nvPr>
        </p:nvSpPr>
        <p:spPr>
          <a:xfrm>
            <a:off x="3338280" y="5254920"/>
            <a:ext cx="3398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Nekst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32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F1E518A-37EC-41D0-B922-5D0FB27100D0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33"/>
          </p:nvPr>
        </p:nvSpPr>
        <p:spPr>
          <a:xfrm>
            <a:off x="692280" y="5254920"/>
            <a:ext cx="226440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title"/>
          </p:nvPr>
        </p:nvSpPr>
        <p:spPr>
          <a:xfrm>
            <a:off x="50328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6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9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79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6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440" y="2542320"/>
            <a:ext cx="860040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Прогнозирование спроса на велопрокат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/>
          <p:nvPr/>
        </p:nvSpPr>
        <p:spPr>
          <a:xfrm>
            <a:off x="685440" y="3846600"/>
            <a:ext cx="755604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Иванов 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Александ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р 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Евгеньев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ич 424-3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/>
          <p:nvPr/>
        </p:nvSpPr>
        <p:spPr>
          <a:xfrm>
            <a:off x="685440" y="4131360"/>
            <a:ext cx="75560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Искусственн</a:t>
            </a: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ый </a:t>
            </a: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интеллект. </a:t>
            </a: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Алгоритмы </a:t>
            </a: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машинного </a:t>
            </a: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обучения на </a:t>
            </a: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языке 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Прямая соединительная линия 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Заголовок 1"/>
          <p:cNvSpPr/>
          <p:nvPr/>
        </p:nvSpPr>
        <p:spPr>
          <a:xfrm>
            <a:off x="702000" y="37296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Постановка задачи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34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8C0A60DF-2F1C-4938-88DA-09FFE456C3B9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4913280" y="1512000"/>
            <a:ext cx="4501440" cy="37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685440" y="2057040"/>
            <a:ext cx="3886200" cy="227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Capital Bikeshare - сервис велопроката в Вашингтоне (США)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Оператор хочет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точно прогнозировать почасовой спрос на велосипеды, при помощи собранной истории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ая соединительная линия 2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Заголовок 3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Тип задачи и метрики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35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F385A642-BF0C-40D7-804F-DC8010BC0567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566280" y="1434600"/>
            <a:ext cx="88826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Задача: </a:t>
            </a: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Регрессия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Целевая переменная:  </a:t>
            </a: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cnt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 - непрерывная (целочисленная) переменная, количество арендованных велосипедов за час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657360" y="2723400"/>
          <a:ext cx="8721720" cy="2406600"/>
        </p:xfrm>
        <a:graphic>
          <a:graphicData uri="http://schemas.openxmlformats.org/drawingml/2006/table">
            <a:tbl>
              <a:tblPr/>
              <a:tblGrid>
                <a:gridCol w="1565640"/>
                <a:gridCol w="7156440"/>
              </a:tblGrid>
              <a:tr h="4309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Метрика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Обоснование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2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RMSE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Основная метрика; сильнее штрафует за крупные ошибки, что важно для пиковых часов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2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MAE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Легко интерпретируется операционной командой (ошибка в единицах велосипедов)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09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R²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Доля объяснённой дисперсии; удобен для сравнения моделей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Прямая соединительная линия 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Заголовок 1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Ограничения и допущения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Num" idx="36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1D71DCA1-09A2-4379-81F1-3ACAA5C631DB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46160" y="2057040"/>
            <a:ext cx="3968280" cy="22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Данные охватывают только два года (2011–2012)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Данные по одному городу (Вашингтон, DC)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Внешние события в датасете не отражены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4347720" y="1512000"/>
            <a:ext cx="5101200" cy="340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229040" y="2786040"/>
            <a:ext cx="755640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EDA </a:t>
            </a: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</a:t>
            </a: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Featu</a:t>
            </a: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 </a:t>
            </a: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Engin</a:t>
            </a: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eering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Прямая соединительная линия 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Заголовок 1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Анализ целевой переменной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sldNum" idx="37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B4FCD02-D406-4251-B75B-325E894FF24E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245520" y="1456920"/>
            <a:ext cx="9654840" cy="360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рямая соединительная линия 3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Заголовок 4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Анализ количества аренды по времени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sldNum" idx="38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89F391AC-ECB9-40ED-89A6-4AE266889BA5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190800" y="1728000"/>
            <a:ext cx="9765360" cy="321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ая соединительная линия 4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Заголовок 2"/>
          <p:cNvSpPr/>
          <p:nvPr/>
        </p:nvSpPr>
        <p:spPr>
          <a:xfrm>
            <a:off x="684000" y="37404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Анализ количества аренды по сезонам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39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FF59375D-1904-446C-AC8C-608212BD9A11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"/>
          <p:cNvPicPr/>
          <p:nvPr/>
        </p:nvPicPr>
        <p:blipFill>
          <a:blip r:embed="rId1"/>
          <a:stretch/>
        </p:blipFill>
        <p:spPr>
          <a:xfrm>
            <a:off x="188280" y="1639800"/>
            <a:ext cx="9827640" cy="318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Прямая соединительная линия 6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Заголовок 5"/>
          <p:cNvSpPr/>
          <p:nvPr/>
        </p:nvSpPr>
        <p:spPr>
          <a:xfrm>
            <a:off x="684000" y="37404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Heatmap по сезонам и погодам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sldNum" idx="40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98B28CD0-0D36-4912-B5C5-7BE967A96872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"/>
          <p:cNvPicPr/>
          <p:nvPr/>
        </p:nvPicPr>
        <p:blipFill>
          <a:blip r:embed="rId1"/>
          <a:stretch/>
        </p:blipFill>
        <p:spPr>
          <a:xfrm>
            <a:off x="71640" y="1371240"/>
            <a:ext cx="4728600" cy="342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/>
          <p:cNvPicPr/>
          <p:nvPr/>
        </p:nvPicPr>
        <p:blipFill>
          <a:blip r:embed="rId2"/>
          <a:srcRect l="51747" t="0" r="0" b="0"/>
          <a:stretch/>
        </p:blipFill>
        <p:spPr>
          <a:xfrm>
            <a:off x="4850640" y="1391040"/>
            <a:ext cx="5193720" cy="355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Прямая соединительная линия 5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Заголовок 8"/>
          <p:cNvSpPr/>
          <p:nvPr/>
        </p:nvSpPr>
        <p:spPr>
          <a:xfrm>
            <a:off x="684000" y="37404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Корреляция признаков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sldNum" idx="41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7B17EEF-EAF2-4B37-AC6C-6B90FB21F4D5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tretch/>
        </p:blipFill>
        <p:spPr>
          <a:xfrm>
            <a:off x="4771080" y="1247760"/>
            <a:ext cx="4781160" cy="40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324000" y="1455840"/>
            <a:ext cx="4019040" cy="31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сильная корреляция между temp и atemp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корреляция между температурой и кол-вом аренодованных велосипедов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слабая отрицательная корреляция между hum и cnt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Прямая соединительная линия 7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Заголовок 6"/>
          <p:cNvSpPr/>
          <p:nvPr/>
        </p:nvSpPr>
        <p:spPr>
          <a:xfrm>
            <a:off x="684000" y="37440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Автокорреляция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sldNum" idx="42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7FFD4D45-B5D5-4D4E-80B6-5AC0FF9839AF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755280" y="1701000"/>
            <a:ext cx="8565480" cy="37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665280" y="1322640"/>
            <a:ext cx="3401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Датасет – </a:t>
            </a: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временно</a:t>
            </a: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й ряд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Прямая соединительная линия 8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Заголовок 7"/>
          <p:cNvSpPr/>
          <p:nvPr/>
        </p:nvSpPr>
        <p:spPr>
          <a:xfrm>
            <a:off x="684000" y="37440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Кодирование и удаление признаков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43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D1259F3-E2C3-4712-B8F7-2B53E1C548C6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04880" y="2018880"/>
            <a:ext cx="40190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Удаления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atemp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удалён -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корреляц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ия с temp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 0.99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dteday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удалён -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дата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закодиро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вана по 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отдельно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сти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244120" y="2035080"/>
            <a:ext cx="3827160" cy="25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Кодирования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OHE для weathersit и season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Дождь и снег (3 и 4) объединены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Циклическое кодирование hr и mnth (sin/cos)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ая соединительная линия 9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Заголовок 9"/>
          <p:cNvSpPr/>
          <p:nvPr/>
        </p:nvSpPr>
        <p:spPr>
          <a:xfrm>
            <a:off x="684000" y="37440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Создание новых признаков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sldNum" idx="44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4B19A89-11AE-4E06-89F5-03AFD74B76B7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456120" y="1462320"/>
            <a:ext cx="4019040" cy="35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Статичные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is_rush_hour - (7–9 и 17–19 ч.)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is_night - (0–5 ч.)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Динамичные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Лаг (1, 3, 6, 12, 24ч)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Скользящая средняя (3, 6, 12, 24ч)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EWM (6ч)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rcRect l="0" t="0" r="50097" b="0"/>
          <a:stretch/>
        </p:blipFill>
        <p:spPr>
          <a:xfrm>
            <a:off x="4473720" y="1355760"/>
            <a:ext cx="5094360" cy="393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Прямая соединительная линия 1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Заголовок 11"/>
          <p:cNvSpPr/>
          <p:nvPr/>
        </p:nvSpPr>
        <p:spPr>
          <a:xfrm>
            <a:off x="684000" y="37440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Работа с холодным стартом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sldNum" idx="45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F77801D-A228-4030-98EB-59EC9696A8B1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56840" y="1828440"/>
            <a:ext cx="3658320" cy="25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Проблема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production-сервис может не знать о истории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Решение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Обучить модель думать без них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"/>
          <p:cNvGraphicFramePr/>
          <p:nvPr/>
        </p:nvGraphicFramePr>
        <p:xfrm>
          <a:off x="4800240" y="1828440"/>
          <a:ext cx="4639320" cy="3129120"/>
        </p:xfrm>
        <a:graphic>
          <a:graphicData uri="http://schemas.openxmlformats.org/drawingml/2006/table">
            <a:tbl>
              <a:tblPr/>
              <a:tblGrid>
                <a:gridCol w="1547280"/>
                <a:gridCol w="1547280"/>
                <a:gridCol w="1545120"/>
              </a:tblGrid>
              <a:tr h="5878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Сценарий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Доля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Доступные lag/rolling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78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normal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80%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все 12 признаков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669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partial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15%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cnt_lag_1, cnt_lag_3, cnt_rolling_mean_3, cnt_ewm_6h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6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cold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5%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ничего (все 12 = NaN)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Прямая соединительная линия 12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Заголовок 12"/>
          <p:cNvSpPr/>
          <p:nvPr/>
        </p:nvSpPr>
        <p:spPr>
          <a:xfrm>
            <a:off x="684000" y="37440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Разделение данных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46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7F2C4E15-FBEA-4C79-A632-F36D99B6AB9C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66640" y="1322640"/>
            <a:ext cx="9034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Случайный split </a:t>
            </a: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недопустим</a:t>
            </a: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DejaVu Sans"/>
              </a:rPr>
              <a:t> для временных рядов, произведен хронологический сплит датасета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3" name=""/>
          <p:cNvGraphicFramePr/>
          <p:nvPr/>
        </p:nvGraphicFramePr>
        <p:xfrm>
          <a:off x="1005480" y="2325960"/>
          <a:ext cx="7896240" cy="2847240"/>
        </p:xfrm>
        <a:graphic>
          <a:graphicData uri="http://schemas.openxmlformats.org/drawingml/2006/table">
            <a:tbl>
              <a:tblPr/>
              <a:tblGrid>
                <a:gridCol w="915480"/>
                <a:gridCol w="2133720"/>
                <a:gridCol w="2215080"/>
                <a:gridCol w="2632320"/>
              </a:tblGrid>
              <a:tr h="47268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Сплит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Период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Объем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Обоснование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79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Train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2011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8645 строк (49.7%)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Обучение модели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964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Validation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2012 январь–июнь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4358 строк (25.1%)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Подбор гиперпараметров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73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2012 июль–декабрь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4376 строк (25.2%)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Финальная оценка качества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229040" y="2786040"/>
            <a:ext cx="75560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Baseline модель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Прямая соединительная линия 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Заголовок 1"/>
          <p:cNvSpPr/>
          <p:nvPr/>
        </p:nvSpPr>
        <p:spPr>
          <a:xfrm>
            <a:off x="684000" y="37296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Дерево решений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sldNum" idx="47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162D927D-CFDF-412C-8381-CDA1D4EF9FE0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28240" y="2057040"/>
            <a:ext cx="365760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Дерево 1 (статичное)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 только 22 статичных признака: час, погода, сезон, рабочий день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Дерево 2 (динамичное)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 все 34 признака, включая lag/rolling/EWM.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/>
          <p:cNvPicPr/>
          <p:nvPr/>
        </p:nvPicPr>
        <p:blipFill>
          <a:blip r:embed="rId1"/>
          <a:srcRect l="0" t="0" r="69473" b="0"/>
          <a:stretch/>
        </p:blipFill>
        <p:spPr>
          <a:xfrm>
            <a:off x="4209840" y="1599840"/>
            <a:ext cx="2876400" cy="303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"/>
          <p:cNvPicPr/>
          <p:nvPr/>
        </p:nvPicPr>
        <p:blipFill>
          <a:blip r:embed="rId2"/>
          <a:srcRect l="67612" t="0" r="0" b="0"/>
          <a:stretch/>
        </p:blipFill>
        <p:spPr>
          <a:xfrm>
            <a:off x="7086240" y="1635840"/>
            <a:ext cx="2743200" cy="297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ая соединительная линия 13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Заголовок 13"/>
          <p:cNvSpPr/>
          <p:nvPr/>
        </p:nvSpPr>
        <p:spPr>
          <a:xfrm>
            <a:off x="684000" y="37296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Выводы для CatBoost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sldNum" idx="48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981A089-19A7-4C17-8918-D33C9F91C906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08600" y="1564560"/>
            <a:ext cx="4114440" cy="28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hr доминирует в статичной модели (71.6% FI).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cnt_lag_1 доминирует в temporal модели (80.8% FI)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- Влажность hum снижает спрос при hum &gt; 0.81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- is_rush_hour с 4.9% FI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"/>
          <p:cNvPicPr/>
          <p:nvPr/>
        </p:nvPicPr>
        <p:blipFill>
          <a:blip r:embed="rId1"/>
          <a:srcRect l="0" t="3976" r="48876" b="0"/>
          <a:stretch/>
        </p:blipFill>
        <p:spPr>
          <a:xfrm>
            <a:off x="5028840" y="1371240"/>
            <a:ext cx="3988080" cy="260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"/>
          <p:cNvPicPr/>
          <p:nvPr/>
        </p:nvPicPr>
        <p:blipFill>
          <a:blip r:embed="rId2"/>
          <a:srcRect l="0" t="7869" r="49169" b="0"/>
          <a:stretch/>
        </p:blipFill>
        <p:spPr>
          <a:xfrm>
            <a:off x="5943240" y="2537640"/>
            <a:ext cx="3732480" cy="234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229040" y="2786040"/>
            <a:ext cx="75560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CatBoost модель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Прямая соединительная линия 14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Заголовок 14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Методология обучения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Num" idx="49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B675C206-D695-4F6B-87A6-FDCFA53A91BD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57200" y="1698840"/>
            <a:ext cx="4343040" cy="28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Train содержит разделения 80/15/5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Val не содержит пропусков, ищем гиперпараметры через Optuna по rmsle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Test разделен на 3: идеальный, 80/15/5, худший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Собираем метрики через MLFlow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257800" y="1671840"/>
            <a:ext cx="4114440" cy="28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Подбираем параметры: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Скорость обучения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Глубину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L2 регуляризацию листьев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Минимальное кол-во данных в листе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Прямая соединительная линия 15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Заголовок 15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Результаты обучения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sldNum" idx="50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07A040E-09AB-42F0-A1F8-6CFB694587C4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"/>
          <p:cNvPicPr/>
          <p:nvPr/>
        </p:nvPicPr>
        <p:blipFill>
          <a:blip r:embed="rId1"/>
          <a:srcRect l="51572" t="7365" r="0" b="0"/>
          <a:stretch/>
        </p:blipFill>
        <p:spPr>
          <a:xfrm>
            <a:off x="5028840" y="3411000"/>
            <a:ext cx="4307400" cy="2205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7" name=""/>
          <p:cNvGraphicFramePr/>
          <p:nvPr/>
        </p:nvGraphicFramePr>
        <p:xfrm>
          <a:off x="276120" y="1401120"/>
          <a:ext cx="4515840" cy="3442680"/>
        </p:xfrm>
        <a:graphic>
          <a:graphicData uri="http://schemas.openxmlformats.org/drawingml/2006/table">
            <a:tbl>
              <a:tblPr/>
              <a:tblGrid>
                <a:gridCol w="1307880"/>
                <a:gridCol w="721800"/>
                <a:gridCol w="932400"/>
                <a:gridCol w="822240"/>
                <a:gridCol w="731880"/>
              </a:tblGrid>
              <a:tr h="3146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Датасет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RMSLE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RMSE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R^2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78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val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0.3606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83.1792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51.7248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0.9377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669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0.3289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102.2269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61.3464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0.9441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6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test_cold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0.3509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D2934"/>
                          </a:solidFill>
                          <a:effectLst/>
                          <a:uFillTx/>
                          <a:latin typeface="Arial"/>
                        </a:rPr>
                        <a:t>106.1801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64.1632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0.9363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6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test_immediate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0.5779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148.4743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104.5304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0.8273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8" name=""/>
          <p:cNvPicPr/>
          <p:nvPr/>
        </p:nvPicPr>
        <p:blipFill>
          <a:blip r:embed="rId2"/>
          <a:srcRect l="0" t="6145" r="48363" b="0"/>
          <a:stretch/>
        </p:blipFill>
        <p:spPr>
          <a:xfrm>
            <a:off x="4979160" y="1211040"/>
            <a:ext cx="4393080" cy="21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Прямая соединительная линия 16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Заголовок 16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Поведение модели на холодном старте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sldNum" idx="51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950F6E4B-BAA1-45CE-810D-CB1677CA488B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2" name=""/>
          <p:cNvPicPr/>
          <p:nvPr/>
        </p:nvPicPr>
        <p:blipFill>
          <a:blip r:embed="rId1"/>
          <a:stretch/>
        </p:blipFill>
        <p:spPr>
          <a:xfrm>
            <a:off x="12240" y="1940760"/>
            <a:ext cx="10045800" cy="249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Прямая соединительная линия 18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Заголовок 18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Пики вляния cold start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sldNum" idx="52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F161F361-457B-47FA-86A2-013B19CF4A4A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28960" y="1143360"/>
            <a:ext cx="822924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Деградация cold start концентрируется именно в </a:t>
            </a:r>
            <a:r>
              <a:rPr lang="en-US" sz="1800" b="1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часы-пик (8:00, 17-18:00)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lag несет максимум информации в этот период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"/>
          <p:cNvPicPr/>
          <p:nvPr/>
        </p:nvPicPr>
        <p:blipFill>
          <a:blip r:embed="rId1"/>
          <a:stretch/>
        </p:blipFill>
        <p:spPr>
          <a:xfrm>
            <a:off x="12600" y="2322000"/>
            <a:ext cx="10045440" cy="249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Прямая соединительная линия 19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Заголовок 19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Важность признаков по FI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sldNum" idx="53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F3D0795-4CD2-4094-9895-013A81AAB142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228240" y="1306440"/>
            <a:ext cx="9372600" cy="412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Прямая соединительная линия 20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Заголовок 20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SHAP – интепритация предсказаний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54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0D7A51D-6BD1-4CF9-8228-E4A03B6FC885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" name=""/>
          <p:cNvPicPr/>
          <p:nvPr/>
        </p:nvPicPr>
        <p:blipFill>
          <a:blip r:embed="rId1"/>
          <a:stretch/>
        </p:blipFill>
        <p:spPr>
          <a:xfrm>
            <a:off x="5636520" y="1371600"/>
            <a:ext cx="3278520" cy="365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"/>
          <p:cNvPicPr/>
          <p:nvPr/>
        </p:nvPicPr>
        <p:blipFill>
          <a:blip r:embed="rId2"/>
          <a:stretch/>
        </p:blipFill>
        <p:spPr>
          <a:xfrm>
            <a:off x="713520" y="1371600"/>
            <a:ext cx="3291120" cy="365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Прямая соединительная линия 2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Заголовок 21"/>
          <p:cNvSpPr/>
          <p:nvPr/>
        </p:nvSpPr>
        <p:spPr>
          <a:xfrm>
            <a:off x="684000" y="37332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Выводы по модели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sldNum" idx="55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2E97CC2-5AD1-4AEA-9D7A-CEB8C98E70BF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31800" y="1852920"/>
            <a:ext cx="3939840" cy="294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Модель сильна в "идеальном" режиме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Модель устойчива к cold start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  <a:ea typeface="Noto Sans CJK SC"/>
              </a:rPr>
              <a:t>Применима для production REST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"/>
          <p:cNvPicPr/>
          <p:nvPr/>
        </p:nvPicPr>
        <p:blipFill>
          <a:blip r:embed="rId1"/>
          <a:stretch/>
        </p:blipFill>
        <p:spPr>
          <a:xfrm>
            <a:off x="5714640" y="1325880"/>
            <a:ext cx="3456000" cy="41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229040" y="2786040"/>
            <a:ext cx="75560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FastAPI Сервис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Прямая соединительная линия 1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Заголовок 1"/>
          <p:cNvSpPr/>
          <p:nvPr/>
        </p:nvSpPr>
        <p:spPr>
          <a:xfrm>
            <a:off x="684000" y="408600"/>
            <a:ext cx="87004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Стек сервиса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56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659150C2-2441-432F-846B-5160511DBCA9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85440" y="1023840"/>
            <a:ext cx="4114440" cy="39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FastAPI + Uvicorn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SqlAlchemy + asyncpg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CatBoost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Postgres (таблицы для temporal признаков)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Dependecy injector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Ruff + 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"/>
          <p:cNvPicPr/>
          <p:nvPr/>
        </p:nvPicPr>
        <p:blipFill>
          <a:blip r:embed="rId1"/>
          <a:stretch/>
        </p:blipFill>
        <p:spPr>
          <a:xfrm>
            <a:off x="4277160" y="2057040"/>
            <a:ext cx="5323680" cy="22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"/>
          <p:cNvPicPr/>
          <p:nvPr/>
        </p:nvPicPr>
        <p:blipFill>
          <a:blip r:embed="rId2"/>
          <a:stretch/>
        </p:blipFill>
        <p:spPr>
          <a:xfrm>
            <a:off x="4383360" y="1106640"/>
            <a:ext cx="4844880" cy="174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"/>
          <p:cNvPicPr/>
          <p:nvPr/>
        </p:nvPicPr>
        <p:blipFill>
          <a:blip r:embed="rId3"/>
          <a:stretch/>
        </p:blipFill>
        <p:spPr>
          <a:xfrm>
            <a:off x="4799880" y="4086000"/>
            <a:ext cx="1171440" cy="11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"/>
          <p:cNvPicPr/>
          <p:nvPr/>
        </p:nvPicPr>
        <p:blipFill>
          <a:blip r:embed="rId4"/>
          <a:stretch/>
        </p:blipFill>
        <p:spPr>
          <a:xfrm>
            <a:off x="6591240" y="411444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"/>
          <p:cNvPicPr/>
          <p:nvPr/>
        </p:nvPicPr>
        <p:blipFill>
          <a:blip r:embed="rId5"/>
          <a:stretch/>
        </p:blipFill>
        <p:spPr>
          <a:xfrm>
            <a:off x="8000640" y="4114440"/>
            <a:ext cx="1146960" cy="11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Прямая соединительная линия 22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Заголовок 22"/>
          <p:cNvSpPr/>
          <p:nvPr/>
        </p:nvSpPr>
        <p:spPr>
          <a:xfrm>
            <a:off x="684000" y="37296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Апи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sldNum" idx="57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B8F7FC3-DB9F-4D66-B278-BF746DE0CFA7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5" name=""/>
          <p:cNvPicPr/>
          <p:nvPr/>
        </p:nvPicPr>
        <p:blipFill>
          <a:blip r:embed="rId1"/>
          <a:stretch/>
        </p:blipFill>
        <p:spPr>
          <a:xfrm>
            <a:off x="1365840" y="1563840"/>
            <a:ext cx="3293640" cy="387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"/>
          <p:cNvPicPr/>
          <p:nvPr/>
        </p:nvPicPr>
        <p:blipFill>
          <a:blip r:embed="rId2"/>
          <a:stretch/>
        </p:blipFill>
        <p:spPr>
          <a:xfrm>
            <a:off x="5410440" y="1563840"/>
            <a:ext cx="3295080" cy="385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Прямая соединительная линия 23"/>
          <p:cNvSpPr/>
          <p:nvPr/>
        </p:nvSpPr>
        <p:spPr>
          <a:xfrm flipV="1">
            <a:off x="164880" y="1167120"/>
            <a:ext cx="9756720" cy="7920"/>
          </a:xfrm>
          <a:prstGeom prst="line">
            <a:avLst/>
          </a:prstGeom>
          <a:ln w="9360">
            <a:solidFill>
              <a:srgbClr val="89C4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Заголовок 23"/>
          <p:cNvSpPr/>
          <p:nvPr/>
        </p:nvSpPr>
        <p:spPr>
          <a:xfrm>
            <a:off x="684000" y="372960"/>
            <a:ext cx="7527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89C400"/>
                </a:solidFill>
                <a:effectLst/>
                <a:uFillTx/>
                <a:latin typeface="Arial"/>
                <a:ea typeface="Verdana"/>
              </a:rPr>
              <a:t>Проделанная работа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sldNum" idx="58"/>
          </p:nvPr>
        </p:nvSpPr>
        <p:spPr>
          <a:xfrm>
            <a:off x="9597960" y="5252760"/>
            <a:ext cx="356760" cy="29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F5FB0D03-08B7-4F34-9E2B-0C16D751D8A9}" type="slidenum">
              <a:rPr lang="ru-RU" sz="12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456840" y="1828440"/>
            <a:ext cx="4571640" cy="28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D2934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Произведен EDA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D2934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Выполнен Feature Engineering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D2934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Обучены baseline деревья решений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D2934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Обучена финальная CatBoost модель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D2934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Написан веб сервис для инференса модели, с минималистичным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"/>
          <p:cNvPicPr/>
          <p:nvPr/>
        </p:nvPicPr>
        <p:blipFill>
          <a:blip r:embed="rId1"/>
          <a:stretch/>
        </p:blipFill>
        <p:spPr>
          <a:xfrm>
            <a:off x="5486040" y="1828440"/>
            <a:ext cx="342900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"/>
          <p:cNvSpPr txBox="1"/>
          <p:nvPr/>
        </p:nvSpPr>
        <p:spPr>
          <a:xfrm>
            <a:off x="4571640" y="1225800"/>
            <a:ext cx="5257800" cy="60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Код, артефакты, ноутбуки, модели доступны по ссылке или по QR: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028840" y="5257440"/>
            <a:ext cx="423432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1D2934"/>
                </a:solidFill>
                <a:effectLst/>
                <a:uFillTx/>
                <a:latin typeface="Arial"/>
              </a:rPr>
              <a:t>https://github.com/kanogame/bikeshare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85440" y="2542320"/>
            <a:ext cx="860040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Прогнозирование спроса на велопрокат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17"/>
          <p:cNvSpPr/>
          <p:nvPr/>
        </p:nvSpPr>
        <p:spPr>
          <a:xfrm>
            <a:off x="685440" y="3846600"/>
            <a:ext cx="755604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Иванов Александр Евгеньевич 424-3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8"/>
          <p:cNvSpPr/>
          <p:nvPr/>
        </p:nvSpPr>
        <p:spPr>
          <a:xfrm>
            <a:off x="685440" y="4131360"/>
            <a:ext cx="75560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Искусственный интеллект. Алгоритмы машинного обучения на языке 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2023-08-24T08:06:00Z</dcterms:created>
  <dc:creator>Анастасия Г. Козлова</dc:creator>
  <dc:description/>
  <dc:language>ru-RU</dc:language>
  <cp:lastModifiedBy/>
  <cp:lastPrinted>2026-05-30T14:22:40Z</cp:lastPrinted>
  <dcterms:modified xsi:type="dcterms:W3CDTF">2026-05-30T20:28:26Z</dcterms:modified>
  <cp:revision>117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12</vt:r8>
  </property>
</Properties>
</file>